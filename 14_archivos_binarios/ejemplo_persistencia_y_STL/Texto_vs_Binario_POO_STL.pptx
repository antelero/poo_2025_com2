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13.xml.rels" ContentType="application/vnd.openxmlformats-package.relationships+xml"/>
  <Override PartName="/ppt/slideLayouts/slideLayout1.xml" ContentType="application/vnd.openxmlformats-officedocument.presentationml.slideLayout+xml"/>
  <Override PartName="/ppt/slideLayouts/_rels/slideLayout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12.xml.rels" ContentType="application/vnd.openxmlformats-package.relationships+xml"/>
  <Override PartName="/ppt/slides/_rels/slide13.xml.rels" ContentType="application/vnd.openxmlformats-package.relationships+xml"/>
  <Override PartName="/ppt/media/image1.png" ContentType="image/png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desplazar la diapositiva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Pulse para editar el formato de las notas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&lt;cabecera&gt;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&lt;fecha/hora&gt;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&lt;pie de página&gt;</a:t>
            </a:r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s-419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E239CAD1-6899-4BB3-8E78-1BD7E8D7117E}" type="slidenum">
              <a:rPr b="0" lang="es-419" sz="1400" spc="-1" strike="noStrike">
                <a:solidFill>
                  <a:srgbClr val="000000"/>
                </a:solidFill>
                <a:latin typeface="Times New Roman"/>
              </a:rPr>
              <a:t>&lt;número&gt;</a:t>
            </a:fld>
            <a:endParaRPr b="0" lang="es-419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CB7A1B2-E386-48A8-8324-FE3F8EFBB19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7953311-6EB6-4C8F-A08A-F173ADCBB8C7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3A10D5F3-942E-4A29-AF3B-2161DD49FC0A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5CFCB85-4FC1-4636-A13C-4583E4EF1316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A5D552E-FE0D-45A6-9E7A-74A416D8A2BF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85AB7CB-2482-4C7C-A578-B3565105BCF2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14CFB1EE-18D0-44C1-88E3-2F6D39B184D7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83A9754-DF73-4487-B682-2E9232089987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EAFF160-4B28-4452-8B0A-11CBC8FA2965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9C427A6-0A04-4C20-889D-04B0FF811D8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722C36A2-E3E1-41D6-AB7B-914CC6953234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B6B793E-55D5-4C33-BAB5-27D5F4720750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680" cy="3085560"/>
          </a:xfrm>
          <a:prstGeom prst="rect">
            <a:avLst/>
          </a:prstGeom>
          <a:ln w="0">
            <a:noFill/>
          </a:ln>
        </p:spPr>
      </p:sp>
      <p:sp>
        <p:nvSpPr>
          <p:cNvPr id="3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680" cy="3599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080" cy="4579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s-419" sz="1200" spc="-1" strike="noStrike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42A6124-7AB9-4866-B7CA-7751A53C9EE5}" type="slidenum">
              <a:rPr b="0" lang="es-419" sz="1200" spc="-1" strike="noStrike">
                <a:solidFill>
                  <a:schemeClr val="dk1"/>
                </a:solidFill>
                <a:latin typeface="+mn-lt"/>
                <a:ea typeface="+mn-ea"/>
              </a:rPr>
              <a:t>&lt;número&gt;</a:t>
            </a:fld>
            <a:endParaRPr b="0" lang="es-419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s-419" sz="4400" spc="-1" strike="noStrike">
                <a:solidFill>
                  <a:srgbClr val="000000"/>
                </a:solidFill>
                <a:latin typeface="Arial"/>
              </a:rPr>
              <a:t>Pulse para editar el formato del texto de título</a:t>
            </a:r>
            <a:endParaRPr b="0" lang="es-419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3200" spc="-1" strike="noStrike">
                <a:solidFill>
                  <a:srgbClr val="000000"/>
                </a:solidFill>
                <a:latin typeface="Arial"/>
              </a:rPr>
              <a:t>Pulse para editar el formato de texto del esquema</a:t>
            </a:r>
            <a:endParaRPr b="0" lang="es-419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800" spc="-1" strike="noStrike">
                <a:solidFill>
                  <a:srgbClr val="000000"/>
                </a:solidFill>
                <a:latin typeface="Arial"/>
              </a:rPr>
              <a:t>Segundo nivel del esquema</a:t>
            </a:r>
            <a:endParaRPr b="0" lang="es-419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400" spc="-1" strike="noStrike">
                <a:solidFill>
                  <a:srgbClr val="000000"/>
                </a:solidFill>
                <a:latin typeface="Arial"/>
              </a:rPr>
              <a:t>Tercer nivel del esquema</a:t>
            </a:r>
            <a:endParaRPr b="0" lang="es-419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Cuarto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Quinto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Sexto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s-419" sz="2000" spc="-1" strike="noStrike">
                <a:solidFill>
                  <a:srgbClr val="000000"/>
                </a:solidFill>
                <a:latin typeface="Arial"/>
              </a:rPr>
              <a:t>Séptimo nivel del esquema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1" descr="logo.png"/>
          <p:cNvPicPr/>
          <p:nvPr/>
        </p:nvPicPr>
        <p:blipFill>
          <a:blip r:embed="rId1"/>
          <a:stretch/>
        </p:blipFill>
        <p:spPr>
          <a:xfrm>
            <a:off x="4541400" y="365760"/>
            <a:ext cx="3108240" cy="763560"/>
          </a:xfrm>
          <a:prstGeom prst="rect">
            <a:avLst/>
          </a:prstGeom>
          <a:ln w="0">
            <a:noFill/>
          </a:ln>
        </p:spPr>
      </p:pic>
      <p:sp>
        <p:nvSpPr>
          <p:cNvPr id="9" name="Shape 22"/>
          <p:cNvSpPr/>
          <p:nvPr/>
        </p:nvSpPr>
        <p:spPr>
          <a:xfrm>
            <a:off x="914400" y="1371600"/>
            <a:ext cx="10362240" cy="2664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Shape 25"/>
          <p:cNvSpPr/>
          <p:nvPr/>
        </p:nvSpPr>
        <p:spPr>
          <a:xfrm>
            <a:off x="914400" y="1444680"/>
            <a:ext cx="10362240" cy="1296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1320" bIns="-313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Text 27"/>
          <p:cNvSpPr/>
          <p:nvPr/>
        </p:nvSpPr>
        <p:spPr>
          <a:xfrm>
            <a:off x="457200" y="1828800"/>
            <a:ext cx="11276640" cy="86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4600" spc="-1" strike="noStrike">
                <a:solidFill>
                  <a:srgbClr val="ef6c00"/>
                </a:solidFill>
                <a:latin typeface="Arial"/>
                <a:ea typeface="Arial"/>
              </a:rPr>
              <a:t>Archivos </a:t>
            </a:r>
            <a:endParaRPr b="0" lang="es-419" sz="46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4600" spc="-1" strike="noStrike">
                <a:solidFill>
                  <a:srgbClr val="ef6c00"/>
                </a:solidFill>
                <a:latin typeface="Arial"/>
                <a:ea typeface="Arial"/>
              </a:rPr>
              <a:t>TEXTO vs. BINARIO</a:t>
            </a:r>
            <a:endParaRPr b="0" lang="es-419" sz="4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8"/>
          <p:cNvSpPr/>
          <p:nvPr/>
        </p:nvSpPr>
        <p:spPr>
          <a:xfrm>
            <a:off x="457200" y="2651760"/>
            <a:ext cx="11276640" cy="11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800" spc="-1" strike="noStrike">
                <a:solidFill>
                  <a:srgbClr val="ef6c00"/>
                </a:solidFill>
                <a:latin typeface="Arial"/>
                <a:ea typeface="Arial"/>
              </a:rPr>
              <a:t>Clase práctica de C++</a:t>
            </a:r>
            <a:endParaRPr b="0" lang="es-419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26"/>
          <p:cNvSpPr/>
          <p:nvPr/>
        </p:nvSpPr>
        <p:spPr>
          <a:xfrm>
            <a:off x="1828800" y="3822120"/>
            <a:ext cx="502200" cy="40320"/>
          </a:xfrm>
          <a:prstGeom prst="rect">
            <a:avLst/>
          </a:prstGeom>
          <a:solidFill>
            <a:srgbClr val="b3a7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Shape 33"/>
          <p:cNvSpPr/>
          <p:nvPr/>
        </p:nvSpPr>
        <p:spPr>
          <a:xfrm>
            <a:off x="9860040" y="3822120"/>
            <a:ext cx="502200" cy="40320"/>
          </a:xfrm>
          <a:prstGeom prst="rect">
            <a:avLst/>
          </a:prstGeom>
          <a:solidFill>
            <a:srgbClr val="b3a7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960" bIns="-396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Text 29"/>
          <p:cNvSpPr/>
          <p:nvPr/>
        </p:nvSpPr>
        <p:spPr>
          <a:xfrm>
            <a:off x="2560320" y="3520440"/>
            <a:ext cx="7070400" cy="776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5c5346"/>
                </a:solidFill>
                <a:latin typeface="Calibri"/>
                <a:ea typeface="Calibri"/>
              </a:rPr>
              <a:t>Persistencia de datos con fstream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  <a:p>
            <a:pPr algn="ctr" defTabSz="914400">
              <a:lnSpc>
                <a:spcPct val="115000"/>
              </a:lnSpc>
              <a:tabLst>
                <a:tab algn="l" pos="0"/>
              </a:tabLst>
            </a:pPr>
            <a:r>
              <a:rPr b="0" lang="es-419" sz="2000" spc="-1" strike="noStrike">
                <a:solidFill>
                  <a:srgbClr val="5c5346"/>
                </a:solidFill>
                <a:latin typeface="Calibri"/>
                <a:ea typeface="Calibri"/>
              </a:rPr>
              <a:t>vector, map, iteradores y algoritmos de la STL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34"/>
          <p:cNvSpPr/>
          <p:nvPr/>
        </p:nvSpPr>
        <p:spPr>
          <a:xfrm>
            <a:off x="914400" y="4892040"/>
            <a:ext cx="10362240" cy="6480"/>
          </a:xfrm>
          <a:prstGeom prst="rect">
            <a:avLst/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7800" bIns="-378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Shape 36"/>
          <p:cNvSpPr/>
          <p:nvPr/>
        </p:nvSpPr>
        <p:spPr>
          <a:xfrm>
            <a:off x="914400" y="5074920"/>
            <a:ext cx="10362240" cy="2664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Text 30"/>
          <p:cNvSpPr/>
          <p:nvPr/>
        </p:nvSpPr>
        <p:spPr>
          <a:xfrm>
            <a:off x="457200" y="5257800"/>
            <a:ext cx="11276640" cy="410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5c5346"/>
                </a:solidFill>
                <a:latin typeface="Calibri"/>
                <a:ea typeface="Calibri"/>
              </a:rPr>
              <a:t>Lic. Leonardo Brambilla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•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Plan de hoy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Shape 3"/>
          <p:cNvSpPr/>
          <p:nvPr/>
        </p:nvSpPr>
        <p:spPr>
          <a:xfrm>
            <a:off x="640080" y="2468880"/>
            <a:ext cx="2513880" cy="2376720"/>
          </a:xfrm>
          <a:prstGeom prst="roundRect">
            <a:avLst>
              <a:gd name="adj" fmla="val 3846"/>
            </a:avLst>
          </a:prstGeom>
          <a:solidFill>
            <a:srgbClr val="eaf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4"/>
          <p:cNvSpPr/>
          <p:nvPr/>
        </p:nvSpPr>
        <p:spPr>
          <a:xfrm>
            <a:off x="1577520" y="2788920"/>
            <a:ext cx="639360" cy="6393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Text 5"/>
          <p:cNvSpPr/>
          <p:nvPr/>
        </p:nvSpPr>
        <p:spPr>
          <a:xfrm>
            <a:off x="1577520" y="27889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Text 6"/>
          <p:cNvSpPr/>
          <p:nvPr/>
        </p:nvSpPr>
        <p:spPr>
          <a:xfrm>
            <a:off x="777240" y="361188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700" spc="-1" strike="noStrike">
                <a:solidFill>
                  <a:srgbClr val="4a4a4a"/>
                </a:solidFill>
                <a:latin typeface="Arial"/>
                <a:ea typeface="Arial"/>
              </a:rPr>
              <a:t>Comparar</a:t>
            </a:r>
            <a:endParaRPr b="0" lang="es-419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Text 7"/>
          <p:cNvSpPr/>
          <p:nvPr/>
        </p:nvSpPr>
        <p:spPr>
          <a:xfrm>
            <a:off x="777240" y="406908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4a4a4a"/>
                </a:solidFill>
                <a:latin typeface="Calibri"/>
                <a:ea typeface="Calibri"/>
              </a:rPr>
              <a:t>texto vs. binario, con código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Shape 8"/>
          <p:cNvSpPr/>
          <p:nvPr/>
        </p:nvSpPr>
        <p:spPr>
          <a:xfrm>
            <a:off x="3383280" y="2468880"/>
            <a:ext cx="2513880" cy="2376720"/>
          </a:xfrm>
          <a:prstGeom prst="roundRect">
            <a:avLst>
              <a:gd name="adj" fmla="val 3846"/>
            </a:avLst>
          </a:prstGeom>
          <a:solidFill>
            <a:srgbClr val="fff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Shape 9"/>
          <p:cNvSpPr/>
          <p:nvPr/>
        </p:nvSpPr>
        <p:spPr>
          <a:xfrm>
            <a:off x="4320720" y="2788920"/>
            <a:ext cx="639360" cy="63936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Text 10"/>
          <p:cNvSpPr/>
          <p:nvPr/>
        </p:nvSpPr>
        <p:spPr>
          <a:xfrm>
            <a:off x="4320720" y="27889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Text 11"/>
          <p:cNvSpPr/>
          <p:nvPr/>
        </p:nvSpPr>
        <p:spPr>
          <a:xfrm>
            <a:off x="3520440" y="361188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700" spc="-1" strike="noStrike">
                <a:solidFill>
                  <a:srgbClr val="4a4a4a"/>
                </a:solidFill>
                <a:latin typeface="Arial"/>
                <a:ea typeface="Arial"/>
              </a:rPr>
              <a:t>Armar</a:t>
            </a:r>
            <a:endParaRPr b="0" lang="es-419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Text 12"/>
          <p:cNvSpPr/>
          <p:nvPr/>
        </p:nvSpPr>
        <p:spPr>
          <a:xfrm>
            <a:off x="3520440" y="406908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4a4a4a"/>
                </a:solidFill>
                <a:latin typeface="Calibri"/>
                <a:ea typeface="Calibri"/>
              </a:rPr>
              <a:t>una clase Alumno simple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Shape 13"/>
          <p:cNvSpPr/>
          <p:nvPr/>
        </p:nvSpPr>
        <p:spPr>
          <a:xfrm>
            <a:off x="6126480" y="2468880"/>
            <a:ext cx="2513880" cy="2376720"/>
          </a:xfrm>
          <a:prstGeom prst="roundRect">
            <a:avLst>
              <a:gd name="adj" fmla="val 3846"/>
            </a:avLst>
          </a:prstGeom>
          <a:solidFill>
            <a:srgbClr val="eaf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Shape 14"/>
          <p:cNvSpPr/>
          <p:nvPr/>
        </p:nvSpPr>
        <p:spPr>
          <a:xfrm>
            <a:off x="7063920" y="2788920"/>
            <a:ext cx="639360" cy="63936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Text 15"/>
          <p:cNvSpPr/>
          <p:nvPr/>
        </p:nvSpPr>
        <p:spPr>
          <a:xfrm>
            <a:off x="7063920" y="27889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Text 16"/>
          <p:cNvSpPr/>
          <p:nvPr/>
        </p:nvSpPr>
        <p:spPr>
          <a:xfrm>
            <a:off x="6263640" y="361188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700" spc="-1" strike="noStrike">
                <a:solidFill>
                  <a:srgbClr val="4a4a4a"/>
                </a:solidFill>
                <a:latin typeface="Arial"/>
                <a:ea typeface="Arial"/>
              </a:rPr>
              <a:t>Guardar y leer</a:t>
            </a:r>
            <a:endParaRPr b="0" lang="es-419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Text 17"/>
          <p:cNvSpPr/>
          <p:nvPr/>
        </p:nvSpPr>
        <p:spPr>
          <a:xfrm>
            <a:off x="6263640" y="406908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4a4a4a"/>
                </a:solidFill>
                <a:latin typeface="Calibri"/>
                <a:ea typeface="Calibri"/>
              </a:rPr>
              <a:t>esa clase en los dos formatos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Shape 18"/>
          <p:cNvSpPr/>
          <p:nvPr/>
        </p:nvSpPr>
        <p:spPr>
          <a:xfrm>
            <a:off x="8869680" y="2468880"/>
            <a:ext cx="2513880" cy="2376720"/>
          </a:xfrm>
          <a:prstGeom prst="roundRect">
            <a:avLst>
              <a:gd name="adj" fmla="val 3846"/>
            </a:avLst>
          </a:prstGeom>
          <a:solidFill>
            <a:srgbClr val="fff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Shape 19"/>
          <p:cNvSpPr/>
          <p:nvPr/>
        </p:nvSpPr>
        <p:spPr>
          <a:xfrm>
            <a:off x="9807120" y="2788920"/>
            <a:ext cx="639360" cy="63936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Text 20"/>
          <p:cNvSpPr/>
          <p:nvPr/>
        </p:nvSpPr>
        <p:spPr>
          <a:xfrm>
            <a:off x="9807120" y="2788920"/>
            <a:ext cx="63936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6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s-419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21"/>
          <p:cNvSpPr/>
          <p:nvPr/>
        </p:nvSpPr>
        <p:spPr>
          <a:xfrm>
            <a:off x="9006840" y="3611880"/>
            <a:ext cx="223956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700" spc="-1" strike="noStrike">
                <a:solidFill>
                  <a:srgbClr val="4a4a4a"/>
                </a:solidFill>
                <a:latin typeface="Arial"/>
                <a:ea typeface="Arial"/>
              </a:rPr>
              <a:t>Combinar</a:t>
            </a:r>
            <a:endParaRPr b="0" lang="es-419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Text 22"/>
          <p:cNvSpPr/>
          <p:nvPr/>
        </p:nvSpPr>
        <p:spPr>
          <a:xfrm>
            <a:off x="9006840" y="4069080"/>
            <a:ext cx="223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4a4a4a"/>
                </a:solidFill>
                <a:latin typeface="Calibri"/>
                <a:ea typeface="Calibri"/>
              </a:rPr>
              <a:t>vector, map, iteradores y algoritmos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Text 23"/>
          <p:cNvSpPr/>
          <p:nvPr/>
        </p:nvSpPr>
        <p:spPr>
          <a:xfrm>
            <a:off x="640080" y="5120640"/>
            <a:ext cx="10880640" cy="45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500" spc="-1" strike="noStrike">
                <a:solidFill>
                  <a:srgbClr val="888888"/>
                </a:solidFill>
                <a:latin typeface="Calibri"/>
                <a:ea typeface="Calibri"/>
              </a:rPr>
              <a:t>Todo con un único ejemplo, de punta a punta: una lista de alumnos.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Shape 24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Text 25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Text 26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2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37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Text 3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Text 3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Texto vs. binario, en código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Shape 38"/>
          <p:cNvSpPr/>
          <p:nvPr/>
        </p:nvSpPr>
        <p:spPr>
          <a:xfrm>
            <a:off x="548640" y="1554480"/>
            <a:ext cx="5394240" cy="3108240"/>
          </a:xfrm>
          <a:prstGeom prst="roundRect">
            <a:avLst>
              <a:gd name="adj" fmla="val 2353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Shape 39"/>
          <p:cNvSpPr/>
          <p:nvPr/>
        </p:nvSpPr>
        <p:spPr>
          <a:xfrm>
            <a:off x="548640" y="1554480"/>
            <a:ext cx="539424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Shape 40"/>
          <p:cNvSpPr/>
          <p:nvPr/>
        </p:nvSpPr>
        <p:spPr>
          <a:xfrm>
            <a:off x="548640" y="1710000"/>
            <a:ext cx="539424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Shape 41"/>
          <p:cNvSpPr/>
          <p:nvPr/>
        </p:nvSpPr>
        <p:spPr>
          <a:xfrm>
            <a:off x="676800" y="164592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Shape 42"/>
          <p:cNvSpPr/>
          <p:nvPr/>
        </p:nvSpPr>
        <p:spPr>
          <a:xfrm>
            <a:off x="877680" y="164592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43"/>
          <p:cNvSpPr/>
          <p:nvPr/>
        </p:nvSpPr>
        <p:spPr>
          <a:xfrm>
            <a:off x="1078920" y="164592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Text 35"/>
          <p:cNvSpPr/>
          <p:nvPr/>
        </p:nvSpPr>
        <p:spPr>
          <a:xfrm>
            <a:off x="1371600" y="1554480"/>
            <a:ext cx="4296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texto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Text 38"/>
          <p:cNvSpPr/>
          <p:nvPr/>
        </p:nvSpPr>
        <p:spPr>
          <a:xfrm>
            <a:off x="777240" y="1938600"/>
            <a:ext cx="493704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ofstream os("curso.txt");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os &lt;&lt; legajo &lt;&lt; ';' &lt;&lt; nombre;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curso.txt (lo abrís con Bloc de notas)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101;Ana Diaz;8.5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Shape 44"/>
          <p:cNvSpPr/>
          <p:nvPr/>
        </p:nvSpPr>
        <p:spPr>
          <a:xfrm>
            <a:off x="6217920" y="1554480"/>
            <a:ext cx="5394240" cy="3108240"/>
          </a:xfrm>
          <a:prstGeom prst="roundRect">
            <a:avLst>
              <a:gd name="adj" fmla="val 2353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8" name="Shape 45"/>
          <p:cNvSpPr/>
          <p:nvPr/>
        </p:nvSpPr>
        <p:spPr>
          <a:xfrm>
            <a:off x="6217920" y="1554480"/>
            <a:ext cx="539424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Shape 46"/>
          <p:cNvSpPr/>
          <p:nvPr/>
        </p:nvSpPr>
        <p:spPr>
          <a:xfrm>
            <a:off x="6217920" y="1710000"/>
            <a:ext cx="539424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Shape 47"/>
          <p:cNvSpPr/>
          <p:nvPr/>
        </p:nvSpPr>
        <p:spPr>
          <a:xfrm>
            <a:off x="6346080" y="164592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Shape 48"/>
          <p:cNvSpPr/>
          <p:nvPr/>
        </p:nvSpPr>
        <p:spPr>
          <a:xfrm>
            <a:off x="6546960" y="164592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Shape 49"/>
          <p:cNvSpPr/>
          <p:nvPr/>
        </p:nvSpPr>
        <p:spPr>
          <a:xfrm>
            <a:off x="6748200" y="164592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Text 39"/>
          <p:cNvSpPr/>
          <p:nvPr/>
        </p:nvSpPr>
        <p:spPr>
          <a:xfrm>
            <a:off x="7040880" y="1554480"/>
            <a:ext cx="42969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binario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Text 40"/>
          <p:cNvSpPr/>
          <p:nvPr/>
        </p:nvSpPr>
        <p:spPr>
          <a:xfrm>
            <a:off x="6446520" y="1938600"/>
            <a:ext cx="4937040" cy="2605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struct RegistroAlumno {         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	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int legajo;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	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char nombre[30];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	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float nota;</a:t>
            </a: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};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419" sz="1600" spc="-1" strike="noStrike">
              <a:solidFill>
                <a:srgbClr val="000000"/>
              </a:solidFill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ofstream os("curso.dat", ios::binary);</a:t>
            </a:r>
            <a:endParaRPr b="0" lang="es-419" sz="1600" spc="-1" strike="noStrike">
              <a:solidFill>
                <a:srgbClr val="000000"/>
              </a:solidFill>
              <a:latin typeface="Liberation Mono;Courier New;DejaVu Sans Mono;Lucida Sans Typewriter"/>
              <a:ea typeface="Liberation Mono;Courier New;DejaVu Sans Mono;Lucida Sans Typewriter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os.write((char*)&amp;legajo,sizeof(legajo));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curso.dat (bytes crudos)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e·\x00\x00\x00...  (ilegible)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41"/>
          <p:cNvSpPr/>
          <p:nvPr/>
        </p:nvSpPr>
        <p:spPr>
          <a:xfrm>
            <a:off x="548640" y="5029200"/>
            <a:ext cx="10880640" cy="547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000" spc="-1" strike="noStrike">
                <a:solidFill>
                  <a:srgbClr val="1c7293"/>
                </a:solidFill>
                <a:latin typeface="Arial"/>
                <a:ea typeface="Arial"/>
              </a:rPr>
              <a:t>Texto: </a:t>
            </a:r>
            <a:r>
              <a:rPr b="0" lang="es-419" sz="2000" spc="-1" strike="noStrike">
                <a:solidFill>
                  <a:srgbClr val="4a4a4a"/>
                </a:solidFill>
                <a:latin typeface="Arial"/>
                <a:ea typeface="Arial"/>
              </a:rPr>
              <a:t>es legible por humanos. </a:t>
            </a:r>
            <a:r>
              <a:rPr b="1" lang="es-419" sz="2000" spc="-1" strike="noStrike">
                <a:solidFill>
                  <a:srgbClr val="ef6c00"/>
                </a:solidFill>
                <a:latin typeface="Arial"/>
                <a:ea typeface="Arial"/>
              </a:rPr>
              <a:t>Binario: </a:t>
            </a:r>
            <a:r>
              <a:rPr b="0" lang="es-419" sz="2000" spc="-1" strike="noStrike">
                <a:solidFill>
                  <a:srgbClr val="4a4a4a"/>
                </a:solidFill>
                <a:latin typeface="Arial"/>
                <a:ea typeface="Arial"/>
              </a:rPr>
              <a:t>es para la PC.</a:t>
            </a:r>
            <a:endParaRPr b="0" lang="es-419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50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Text 42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Text 43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3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La clase que vamos a persistir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3"/>
          <p:cNvSpPr/>
          <p:nvPr/>
        </p:nvSpPr>
        <p:spPr>
          <a:xfrm>
            <a:off x="1554480" y="1417320"/>
            <a:ext cx="9051840" cy="4891320"/>
          </a:xfrm>
          <a:prstGeom prst="roundRect">
            <a:avLst>
              <a:gd name="adj" fmla="val 1495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4"/>
          <p:cNvSpPr/>
          <p:nvPr/>
        </p:nvSpPr>
        <p:spPr>
          <a:xfrm>
            <a:off x="1554480" y="1417320"/>
            <a:ext cx="905184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Shape 5"/>
          <p:cNvSpPr/>
          <p:nvPr/>
        </p:nvSpPr>
        <p:spPr>
          <a:xfrm>
            <a:off x="1554480" y="1572840"/>
            <a:ext cx="905184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5" name="Shape 6"/>
          <p:cNvSpPr/>
          <p:nvPr/>
        </p:nvSpPr>
        <p:spPr>
          <a:xfrm>
            <a:off x="1682640" y="150876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Shape 7"/>
          <p:cNvSpPr/>
          <p:nvPr/>
        </p:nvSpPr>
        <p:spPr>
          <a:xfrm>
            <a:off x="1883520" y="150876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Shape 8"/>
          <p:cNvSpPr/>
          <p:nvPr/>
        </p:nvSpPr>
        <p:spPr>
          <a:xfrm>
            <a:off x="2084760" y="150876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8" name="Text 9"/>
          <p:cNvSpPr/>
          <p:nvPr/>
        </p:nvSpPr>
        <p:spPr>
          <a:xfrm>
            <a:off x="2377440" y="1417320"/>
            <a:ext cx="79545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Alumno.h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 10"/>
          <p:cNvSpPr/>
          <p:nvPr/>
        </p:nvSpPr>
        <p:spPr>
          <a:xfrm>
            <a:off x="1783080" y="1801440"/>
            <a:ext cx="8594640" cy="438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class Alumno {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private: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int legajo;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std::string nombre;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float nota;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public: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Alumno(int legajo, const std::string&amp; nombre, float nota)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: legajo(legajo), nombre(nombre), nota(nota) {}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int getLegajo() const { return legajo; 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const std::string&amp; getNombre() const { return nombre; 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float getNota() const { return nota; 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friend std::ostream&amp; operator&lt;&lt;(std::ostream&amp; os, const Alumno&amp; a) {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os &lt;&lt; "#" &lt;&lt; a.legajo &lt;&lt; " " &lt;&lt; a.nombre &lt;&lt; " - " &lt;&lt; a.nota;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return os;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};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Shape 11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Text 12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 13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4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Guardar y leer en TEXTO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48640" y="1508760"/>
            <a:ext cx="10880640" cy="4799880"/>
          </a:xfrm>
          <a:prstGeom prst="roundRect">
            <a:avLst>
              <a:gd name="adj" fmla="val 1524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Shape 4"/>
          <p:cNvSpPr/>
          <p:nvPr/>
        </p:nvSpPr>
        <p:spPr>
          <a:xfrm>
            <a:off x="548640" y="1508760"/>
            <a:ext cx="1088064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548640" y="1664280"/>
            <a:ext cx="1088064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676800" y="160020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Shape 7"/>
          <p:cNvSpPr/>
          <p:nvPr/>
        </p:nvSpPr>
        <p:spPr>
          <a:xfrm>
            <a:off x="877680" y="160020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Shape 8"/>
          <p:cNvSpPr/>
          <p:nvPr/>
        </p:nvSpPr>
        <p:spPr>
          <a:xfrm>
            <a:off x="1078920" y="160020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1371600" y="1508760"/>
            <a:ext cx="9783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777240" y="1892880"/>
            <a:ext cx="10423440" cy="429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" sz="1100" spc="-1" strike="noStrike">
                <a:solidFill>
                  <a:srgbClr val="8fbfaf"/>
                </a:solidFill>
                <a:latin typeface="Courier New"/>
                <a:ea typeface="Courier New"/>
              </a:rPr>
              <a:t>//Guardar un archivo de texto 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void guardarTexto(const string&amp; archivo, const vector&lt;Alumno&gt;&amp; lista) 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ofstream os(archivo);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for (const auto&amp; a : lista)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os &lt;&lt; a.getLegajo() &lt;&lt; ';' &lt;&lt; a.getNombre() &lt;&lt; ';' &lt;&lt; a.getNota() &lt;&lt; '\n';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" sz="1100" spc="-1" strike="noStrike">
                <a:solidFill>
                  <a:srgbClr val="8fbfaf"/>
                </a:solidFill>
                <a:latin typeface="Courier New"/>
                <a:ea typeface="Courier New"/>
              </a:rPr>
              <a:t>//Leer un archivo de texto 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vector&lt;Alumno&gt; cargarTexto(const string&amp; archivo) 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ifstream is(archivo);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vector&lt;Alumno&gt; lista;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string linea;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while (getline(is, linea)) 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stringstream ss(linea);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	</a:t>
            </a:r>
            <a:r>
              <a:rPr b="0" lang="es" sz="1100" spc="-1" strike="noStrike">
                <a:solidFill>
                  <a:srgbClr val="8fbfaf"/>
                </a:solidFill>
                <a:latin typeface="Courier New"/>
                <a:ea typeface="Courier New"/>
              </a:rPr>
              <a:t>//Maneja una cadena de texto (string) como si fuera un flujo de datos (un stream)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string legajo, nombre, nota;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getline(ss, legajo, ';');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getline(ss, nombre, ';');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getline(ss, nota, ';');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lista.emplace_back(stoi(legajo), nombre, stof(nota));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return lista;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Shape 11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5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Listado prolijo: setw, left, right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 3"/>
          <p:cNvSpPr/>
          <p:nvPr/>
        </p:nvSpPr>
        <p:spPr>
          <a:xfrm>
            <a:off x="1261800" y="896040"/>
            <a:ext cx="10240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888888"/>
                </a:solidFill>
                <a:latin typeface="Calibri"/>
                <a:ea typeface="Calibri"/>
              </a:rPr>
              <a:t>Persistencia (con ';') y listado (para leer) son cosas distintas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4"/>
          <p:cNvSpPr/>
          <p:nvPr/>
        </p:nvSpPr>
        <p:spPr>
          <a:xfrm>
            <a:off x="548640" y="1783080"/>
            <a:ext cx="6491520" cy="4296960"/>
          </a:xfrm>
          <a:prstGeom prst="roundRect">
            <a:avLst>
              <a:gd name="adj" fmla="val 1702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Shape 5"/>
          <p:cNvSpPr/>
          <p:nvPr/>
        </p:nvSpPr>
        <p:spPr>
          <a:xfrm>
            <a:off x="548640" y="1783080"/>
            <a:ext cx="649152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Shape 6"/>
          <p:cNvSpPr/>
          <p:nvPr/>
        </p:nvSpPr>
        <p:spPr>
          <a:xfrm>
            <a:off x="548640" y="1938600"/>
            <a:ext cx="649152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Shape 7"/>
          <p:cNvSpPr/>
          <p:nvPr/>
        </p:nvSpPr>
        <p:spPr>
          <a:xfrm>
            <a:off x="676800" y="187452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Shape 8"/>
          <p:cNvSpPr/>
          <p:nvPr/>
        </p:nvSpPr>
        <p:spPr>
          <a:xfrm>
            <a:off x="877680" y="187452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Shape 9"/>
          <p:cNvSpPr/>
          <p:nvPr/>
        </p:nvSpPr>
        <p:spPr>
          <a:xfrm>
            <a:off x="1078920" y="187452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 10"/>
          <p:cNvSpPr/>
          <p:nvPr/>
        </p:nvSpPr>
        <p:spPr>
          <a:xfrm>
            <a:off x="1371600" y="1783080"/>
            <a:ext cx="5394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1"/>
          <p:cNvSpPr/>
          <p:nvPr/>
        </p:nvSpPr>
        <p:spPr>
          <a:xfrm>
            <a:off x="777240" y="2167200"/>
            <a:ext cx="603432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8fbfaf"/>
                </a:solidFill>
                <a:latin typeface="Courier New"/>
                <a:ea typeface="Courier New"/>
              </a:rPr>
              <a:t>// &lt;iomanip&gt;: setw / left / right / fixed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void imprimirListado(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const vector&lt;Alumno&gt;&amp; lista) {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cout &lt;&lt; left  &lt;&lt; setw(8)  &lt;&lt; "Legajo"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&lt;&lt; left  &lt;&lt; setw(16) &lt;&lt; "Nombre"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&lt;&lt; right &lt;&lt; setw(8)  &lt;&lt; "Nota" &lt;&lt; '\n';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cout &lt;&lt; string(32, '-') &lt;&lt; '\n';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for (const auto&amp; a : lista) {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cout &lt;&lt; left  &lt;&lt; setw(8)  &lt;&lt; a.getLegajo()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&lt;&lt; left  &lt;&lt; setw(16) &lt;&lt; a.getNombre()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&lt;&lt; right &lt;&lt; setw(8)  &lt;&lt; fixed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&lt;&lt; setprecision(1) &lt;&lt; a.getNota()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&lt;&lt; '\n';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Shape 12"/>
          <p:cNvSpPr/>
          <p:nvPr/>
        </p:nvSpPr>
        <p:spPr>
          <a:xfrm>
            <a:off x="7223760" y="1783080"/>
            <a:ext cx="4205520" cy="4296960"/>
          </a:xfrm>
          <a:prstGeom prst="roundRect">
            <a:avLst>
              <a:gd name="adj" fmla="val 1739"/>
            </a:avLst>
          </a:prstGeom>
          <a:solidFill>
            <a:srgbClr val="eaf6f5"/>
          </a:solidFill>
          <a:ln w="12700">
            <a:solidFill>
              <a:srgbClr val="4db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Text 13"/>
          <p:cNvSpPr/>
          <p:nvPr/>
        </p:nvSpPr>
        <p:spPr>
          <a:xfrm>
            <a:off x="7452360" y="1965960"/>
            <a:ext cx="374832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50" spc="-1" strike="noStrike">
                <a:solidFill>
                  <a:srgbClr val="1c7293"/>
                </a:solidFill>
                <a:latin typeface="Courier New"/>
                <a:ea typeface="Courier New"/>
              </a:rPr>
              <a:t>salida por consola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 14"/>
          <p:cNvSpPr/>
          <p:nvPr/>
        </p:nvSpPr>
        <p:spPr>
          <a:xfrm>
            <a:off x="7452360" y="2377440"/>
            <a:ext cx="3748320" cy="347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4a4a4a"/>
                </a:solidFill>
                <a:latin typeface="Courier New"/>
                <a:ea typeface="Courier New"/>
              </a:rPr>
              <a:t>Legajo  Nombre            Nota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4a4a4a"/>
                </a:solidFill>
                <a:latin typeface="Courier New"/>
                <a:ea typeface="Courier New"/>
              </a:rPr>
              <a:t>--------------------------------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4a4a4a"/>
                </a:solidFill>
                <a:latin typeface="Courier New"/>
                <a:ea typeface="Courier New"/>
              </a:rPr>
              <a:t>101     Ana Diaz           8.5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4a4a4a"/>
                </a:solidFill>
                <a:latin typeface="Courier New"/>
                <a:ea typeface="Courier New"/>
              </a:rPr>
              <a:t>102     Luis Roman         3.0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4a4a4a"/>
                </a:solidFill>
                <a:latin typeface="Courier New"/>
                <a:ea typeface="Courier New"/>
              </a:rPr>
              <a:t>103     Marco Sosa         6.0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30000"/>
              </a:lnSpc>
              <a:tabLst>
                <a:tab algn="l" pos="0"/>
              </a:tabLst>
            </a:pPr>
            <a:r>
              <a:rPr b="0" lang="es-419" sz="1300" spc="-1" strike="noStrike">
                <a:solidFill>
                  <a:srgbClr val="4a4a4a"/>
                </a:solidFill>
                <a:latin typeface="Courier New"/>
                <a:ea typeface="Courier New"/>
              </a:rPr>
              <a:t>104     Nadia Ibarra       9.0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 15"/>
          <p:cNvSpPr/>
          <p:nvPr/>
        </p:nvSpPr>
        <p:spPr>
          <a:xfrm>
            <a:off x="7452360" y="5029200"/>
            <a:ext cx="374832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050" spc="-1" strike="noStrike">
                <a:solidFill>
                  <a:srgbClr val="888888"/>
                </a:solidFill>
                <a:latin typeface="Calibri"/>
                <a:ea typeface="Calibri"/>
              </a:rPr>
              <a:t>fixed/setprecision quedan pegados a cout: al salir, la función restaura el formato con cout.copyfmt(...)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Shape 16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Text 17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18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6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Guardar y leer en BINARIO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Text 3"/>
          <p:cNvSpPr/>
          <p:nvPr/>
        </p:nvSpPr>
        <p:spPr>
          <a:xfrm>
            <a:off x="1261800" y="896040"/>
            <a:ext cx="10240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888888"/>
                </a:solidFill>
                <a:latin typeface="Calibri"/>
                <a:ea typeface="Calibri"/>
              </a:rPr>
              <a:t>Un struct de tamaño FIJO: un solo write, un solo read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Shape 4"/>
          <p:cNvSpPr/>
          <p:nvPr/>
        </p:nvSpPr>
        <p:spPr>
          <a:xfrm>
            <a:off x="548640" y="1783080"/>
            <a:ext cx="5031360" cy="4434120"/>
          </a:xfrm>
          <a:prstGeom prst="roundRect">
            <a:avLst>
              <a:gd name="adj" fmla="val 1649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>
              <a:lnSpc>
                <a:spcPct val="100000"/>
              </a:lnSpc>
            </a:pPr>
            <a:endParaRPr b="0" lang="es-419" sz="1100" spc="-1" strike="noStrike">
              <a:solidFill>
                <a:srgbClr val="f2f2f2"/>
              </a:solidFill>
              <a:latin typeface="Courier New"/>
              <a:ea typeface="Courier New"/>
            </a:endParaRPr>
          </a:p>
        </p:txBody>
      </p:sp>
      <p:sp>
        <p:nvSpPr>
          <p:cNvPr id="121" name="Shape 5"/>
          <p:cNvSpPr/>
          <p:nvPr/>
        </p:nvSpPr>
        <p:spPr>
          <a:xfrm>
            <a:off x="548640" y="1783080"/>
            <a:ext cx="503136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Shape 6"/>
          <p:cNvSpPr/>
          <p:nvPr/>
        </p:nvSpPr>
        <p:spPr>
          <a:xfrm>
            <a:off x="548640" y="1938600"/>
            <a:ext cx="503136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Shape 7"/>
          <p:cNvSpPr/>
          <p:nvPr/>
        </p:nvSpPr>
        <p:spPr>
          <a:xfrm>
            <a:off x="676800" y="187452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8"/>
          <p:cNvSpPr/>
          <p:nvPr/>
        </p:nvSpPr>
        <p:spPr>
          <a:xfrm>
            <a:off x="877680" y="187452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Shape 9"/>
          <p:cNvSpPr/>
          <p:nvPr/>
        </p:nvSpPr>
        <p:spPr>
          <a:xfrm>
            <a:off x="1078920" y="187452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Text 10"/>
          <p:cNvSpPr/>
          <p:nvPr/>
        </p:nvSpPr>
        <p:spPr>
          <a:xfrm>
            <a:off x="1371600" y="1783080"/>
            <a:ext cx="4845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Persistencia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1"/>
          <p:cNvSpPr/>
          <p:nvPr/>
        </p:nvSpPr>
        <p:spPr>
          <a:xfrm>
            <a:off x="777240" y="2167200"/>
            <a:ext cx="548568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8fbfaf"/>
                </a:solidFill>
                <a:latin typeface="Courier New"/>
                <a:ea typeface="Courier New"/>
              </a:rPr>
              <a:t>// char[30] en vez de std::string: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8fbfaf"/>
                </a:solidFill>
                <a:latin typeface="Courier New"/>
                <a:ea typeface="Courier New"/>
              </a:rPr>
              <a:t>// tamaño SIEMPRE igual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struct RegistroAlumno 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int legajo;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char nombre[30];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float nota;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};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void guardarBinario(const string&amp; archivo,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const vector&lt;Alumno&gt;&amp; lista) 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ofstream os(archivo, ios::binary);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for (const auto&amp; a : lista) {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RegistroAlumno r{};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r.legajo = a.getLegajo();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strncpy(r.nombre, a.getNombre().c_str(),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sizeof(r.nombre) - 1);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r.nota = a.getNota();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os.write((char*)&amp;r, sizeof(r));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2"/>
          <p:cNvSpPr/>
          <p:nvPr/>
        </p:nvSpPr>
        <p:spPr>
          <a:xfrm>
            <a:off x="5940000" y="1783080"/>
            <a:ext cx="5489280" cy="4434120"/>
          </a:xfrm>
          <a:prstGeom prst="roundRect">
            <a:avLst>
              <a:gd name="adj" fmla="val 1649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Shape 13"/>
          <p:cNvSpPr/>
          <p:nvPr/>
        </p:nvSpPr>
        <p:spPr>
          <a:xfrm>
            <a:off x="5945400" y="1783080"/>
            <a:ext cx="548388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5945400" y="1938600"/>
            <a:ext cx="479988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Shape 15"/>
          <p:cNvSpPr/>
          <p:nvPr/>
        </p:nvSpPr>
        <p:spPr>
          <a:xfrm>
            <a:off x="6073560" y="187452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Shape 16"/>
          <p:cNvSpPr/>
          <p:nvPr/>
        </p:nvSpPr>
        <p:spPr>
          <a:xfrm>
            <a:off x="6274440" y="187452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17"/>
          <p:cNvSpPr/>
          <p:nvPr/>
        </p:nvSpPr>
        <p:spPr>
          <a:xfrm>
            <a:off x="6475680" y="187452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18"/>
          <p:cNvSpPr/>
          <p:nvPr/>
        </p:nvSpPr>
        <p:spPr>
          <a:xfrm>
            <a:off x="6768360" y="1783080"/>
            <a:ext cx="3702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cargarBinario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19"/>
          <p:cNvSpPr/>
          <p:nvPr/>
        </p:nvSpPr>
        <p:spPr>
          <a:xfrm>
            <a:off x="6174000" y="2167200"/>
            <a:ext cx="4986000" cy="39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8fbfaf"/>
                </a:solidFill>
                <a:latin typeface="Courier New"/>
                <a:ea typeface="Courier New"/>
              </a:rPr>
              <a:t>// simétrico: un solo read,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8fbfaf"/>
                </a:solidFill>
                <a:latin typeface="Courier New"/>
                <a:ea typeface="Courier New"/>
              </a:rPr>
              <a:t>// mismo tamaño fijo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vector&lt;Alumno&gt; cargarBinario(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const string&amp; archivo) {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ifstream is(archivo, ios::binary);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vector&lt;Alumno&gt; lista;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RegistroAlumno r;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while (is.read((char*)&amp;r, sizeof(r))) {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lista.emplace_back(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r.legajo,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std::string(r.nombre),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r.nota);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return lista;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Shape 20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Text 21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2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7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6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Modos de apertura de archivo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Shape 3"/>
          <p:cNvSpPr/>
          <p:nvPr/>
        </p:nvSpPr>
        <p:spPr>
          <a:xfrm>
            <a:off x="548640" y="1417320"/>
            <a:ext cx="5348520" cy="776520"/>
          </a:xfrm>
          <a:prstGeom prst="roundRect">
            <a:avLst>
              <a:gd name="adj" fmla="val 8235"/>
            </a:avLst>
          </a:prstGeom>
          <a:solidFill>
            <a:srgbClr val="eaf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 4"/>
          <p:cNvSpPr/>
          <p:nvPr/>
        </p:nvSpPr>
        <p:spPr>
          <a:xfrm>
            <a:off x="731520" y="1490400"/>
            <a:ext cx="498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ios::in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5"/>
          <p:cNvSpPr/>
          <p:nvPr/>
        </p:nvSpPr>
        <p:spPr>
          <a:xfrm>
            <a:off x="731520" y="1783080"/>
            <a:ext cx="4982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-1" strike="noStrike">
                <a:solidFill>
                  <a:srgbClr val="4a4a4a"/>
                </a:solidFill>
                <a:latin typeface="Arial"/>
                <a:ea typeface="Arial"/>
              </a:rPr>
              <a:t>Abrir para LEER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Text 6"/>
          <p:cNvSpPr/>
          <p:nvPr/>
        </p:nvSpPr>
        <p:spPr>
          <a:xfrm>
            <a:off x="731520" y="1993320"/>
            <a:ext cx="4982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050" spc="-1" strike="noStrike">
                <a:solidFill>
                  <a:srgbClr val="888888"/>
                </a:solidFill>
                <a:latin typeface="Calibri"/>
                <a:ea typeface="Calibri"/>
              </a:rPr>
              <a:t>ifstream lo usa 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Shape 7"/>
          <p:cNvSpPr/>
          <p:nvPr/>
        </p:nvSpPr>
        <p:spPr>
          <a:xfrm>
            <a:off x="6080760" y="1417320"/>
            <a:ext cx="5348520" cy="776520"/>
          </a:xfrm>
          <a:prstGeom prst="roundRect">
            <a:avLst>
              <a:gd name="adj" fmla="val 8235"/>
            </a:avLst>
          </a:prstGeom>
          <a:solidFill>
            <a:srgbClr val="fff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Text 8"/>
          <p:cNvSpPr/>
          <p:nvPr/>
        </p:nvSpPr>
        <p:spPr>
          <a:xfrm>
            <a:off x="6263640" y="1490400"/>
            <a:ext cx="498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ios::out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6263640" y="1783080"/>
            <a:ext cx="4982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-1" strike="noStrike">
                <a:solidFill>
                  <a:srgbClr val="4a4a4a"/>
                </a:solidFill>
                <a:latin typeface="Arial"/>
                <a:ea typeface="Arial"/>
              </a:rPr>
              <a:t>Abrir para ESCRIBIR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6263640" y="1993320"/>
            <a:ext cx="4982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050" spc="-1" strike="noStrike">
                <a:solidFill>
                  <a:srgbClr val="888888"/>
                </a:solidFill>
                <a:latin typeface="Calibri"/>
                <a:ea typeface="Calibri"/>
              </a:rPr>
              <a:t>ofstream lo usa 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548640" y="2313360"/>
            <a:ext cx="5348520" cy="776520"/>
          </a:xfrm>
          <a:prstGeom prst="roundRect">
            <a:avLst>
              <a:gd name="adj" fmla="val 8235"/>
            </a:avLst>
          </a:prstGeom>
          <a:solidFill>
            <a:srgbClr val="eaf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Text 12"/>
          <p:cNvSpPr/>
          <p:nvPr/>
        </p:nvSpPr>
        <p:spPr>
          <a:xfrm>
            <a:off x="731520" y="2386440"/>
            <a:ext cx="498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ios::app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2" name="Text 13"/>
          <p:cNvSpPr/>
          <p:nvPr/>
        </p:nvSpPr>
        <p:spPr>
          <a:xfrm>
            <a:off x="731520" y="2679120"/>
            <a:ext cx="4982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-1" strike="noStrike">
                <a:solidFill>
                  <a:srgbClr val="4a4a4a"/>
                </a:solidFill>
                <a:latin typeface="Arial"/>
                <a:ea typeface="Arial"/>
              </a:rPr>
              <a:t>Escribir SIEMPRE al final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 14"/>
          <p:cNvSpPr/>
          <p:nvPr/>
        </p:nvSpPr>
        <p:spPr>
          <a:xfrm>
            <a:off x="731520" y="2889360"/>
            <a:ext cx="4982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050" spc="-1" strike="noStrike">
                <a:solidFill>
                  <a:srgbClr val="888888"/>
                </a:solidFill>
                <a:latin typeface="Calibri"/>
                <a:ea typeface="Calibri"/>
              </a:rPr>
              <a:t>no pisa lo que ya había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Shape 15"/>
          <p:cNvSpPr/>
          <p:nvPr/>
        </p:nvSpPr>
        <p:spPr>
          <a:xfrm>
            <a:off x="6080760" y="2313360"/>
            <a:ext cx="5348520" cy="776520"/>
          </a:xfrm>
          <a:prstGeom prst="roundRect">
            <a:avLst>
              <a:gd name="adj" fmla="val 8235"/>
            </a:avLst>
          </a:prstGeom>
          <a:solidFill>
            <a:srgbClr val="fff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6263640" y="2386440"/>
            <a:ext cx="498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ios::trunc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 17"/>
          <p:cNvSpPr/>
          <p:nvPr/>
        </p:nvSpPr>
        <p:spPr>
          <a:xfrm>
            <a:off x="6263640" y="2679120"/>
            <a:ext cx="4982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-1" strike="noStrike">
                <a:solidFill>
                  <a:srgbClr val="4a4a4a"/>
                </a:solidFill>
                <a:latin typeface="Arial"/>
                <a:ea typeface="Arial"/>
              </a:rPr>
              <a:t>Vaciar el archivo al abrir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8"/>
          <p:cNvSpPr/>
          <p:nvPr/>
        </p:nvSpPr>
        <p:spPr>
          <a:xfrm>
            <a:off x="6263640" y="2889360"/>
            <a:ext cx="4982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050" spc="-1" strike="noStrike">
                <a:solidFill>
                  <a:srgbClr val="888888"/>
                </a:solidFill>
                <a:latin typeface="Calibri"/>
                <a:ea typeface="Calibri"/>
              </a:rPr>
              <a:t>es el default de ofstream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Shape 19"/>
          <p:cNvSpPr/>
          <p:nvPr/>
        </p:nvSpPr>
        <p:spPr>
          <a:xfrm>
            <a:off x="548640" y="3209400"/>
            <a:ext cx="5348520" cy="776520"/>
          </a:xfrm>
          <a:prstGeom prst="roundRect">
            <a:avLst>
              <a:gd name="adj" fmla="val 8235"/>
            </a:avLst>
          </a:prstGeom>
          <a:solidFill>
            <a:srgbClr val="eaf6f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Text 20"/>
          <p:cNvSpPr/>
          <p:nvPr/>
        </p:nvSpPr>
        <p:spPr>
          <a:xfrm>
            <a:off x="731520" y="3282840"/>
            <a:ext cx="498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ios::ate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 21"/>
          <p:cNvSpPr/>
          <p:nvPr/>
        </p:nvSpPr>
        <p:spPr>
          <a:xfrm>
            <a:off x="731520" y="3575160"/>
            <a:ext cx="4982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-1" strike="noStrike">
                <a:solidFill>
                  <a:srgbClr val="4a4a4a"/>
                </a:solidFill>
                <a:latin typeface="Arial"/>
                <a:ea typeface="Arial"/>
              </a:rPr>
              <a:t>Arrancar posicionado al final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731520" y="3785760"/>
            <a:ext cx="4982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050" spc="-1" strike="noStrike">
                <a:solidFill>
                  <a:srgbClr val="888888"/>
                </a:solidFill>
                <a:latin typeface="Calibri"/>
                <a:ea typeface="Calibri"/>
              </a:rPr>
              <a:t>pero se puede escribir en cualquier lado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Shape 23"/>
          <p:cNvSpPr/>
          <p:nvPr/>
        </p:nvSpPr>
        <p:spPr>
          <a:xfrm>
            <a:off x="6080760" y="3209400"/>
            <a:ext cx="5348520" cy="776520"/>
          </a:xfrm>
          <a:prstGeom prst="roundRect">
            <a:avLst>
              <a:gd name="adj" fmla="val 8235"/>
            </a:avLst>
          </a:prstGeom>
          <a:solidFill>
            <a:srgbClr val="fff1e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Text 24"/>
          <p:cNvSpPr/>
          <p:nvPr/>
        </p:nvSpPr>
        <p:spPr>
          <a:xfrm>
            <a:off x="6263640" y="3282840"/>
            <a:ext cx="49827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500" spc="-1" strike="noStrike">
                <a:solidFill>
                  <a:srgbClr val="1c7293"/>
                </a:solidFill>
                <a:latin typeface="Courier New"/>
                <a:ea typeface="Courier New"/>
              </a:rPr>
              <a:t>ios::binary</a:t>
            </a:r>
            <a:endParaRPr b="0" lang="es-419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25"/>
          <p:cNvSpPr/>
          <p:nvPr/>
        </p:nvSpPr>
        <p:spPr>
          <a:xfrm>
            <a:off x="6263640" y="3575160"/>
            <a:ext cx="4982760" cy="227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200" spc="-1" strike="noStrike">
                <a:solidFill>
                  <a:srgbClr val="4a4a4a"/>
                </a:solidFill>
                <a:latin typeface="Arial"/>
                <a:ea typeface="Arial"/>
              </a:rPr>
              <a:t>Modo binario</a:t>
            </a:r>
            <a:endParaRPr b="0" lang="es-419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Text 26"/>
          <p:cNvSpPr/>
          <p:nvPr/>
        </p:nvSpPr>
        <p:spPr>
          <a:xfrm>
            <a:off x="6263640" y="3785760"/>
            <a:ext cx="4982760" cy="18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050" spc="-1" strike="noStrike">
                <a:solidFill>
                  <a:srgbClr val="888888"/>
                </a:solidFill>
                <a:latin typeface="Calibri"/>
                <a:ea typeface="Calibri"/>
              </a:rPr>
              <a:t>sin traducciones de texto (\n, etc.)</a:t>
            </a:r>
            <a:endParaRPr b="0" lang="es-419" sz="10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27"/>
          <p:cNvSpPr/>
          <p:nvPr/>
        </p:nvSpPr>
        <p:spPr>
          <a:xfrm>
            <a:off x="548640" y="4160520"/>
            <a:ext cx="10880640" cy="1782360"/>
          </a:xfrm>
          <a:prstGeom prst="roundRect">
            <a:avLst>
              <a:gd name="adj" fmla="val 4103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28"/>
          <p:cNvSpPr/>
          <p:nvPr/>
        </p:nvSpPr>
        <p:spPr>
          <a:xfrm>
            <a:off x="548640" y="4160520"/>
            <a:ext cx="1088064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Shape 29"/>
          <p:cNvSpPr/>
          <p:nvPr/>
        </p:nvSpPr>
        <p:spPr>
          <a:xfrm>
            <a:off x="548640" y="4316040"/>
            <a:ext cx="1088064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Shape 30"/>
          <p:cNvSpPr/>
          <p:nvPr/>
        </p:nvSpPr>
        <p:spPr>
          <a:xfrm>
            <a:off x="676800" y="425196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Shape 31"/>
          <p:cNvSpPr/>
          <p:nvPr/>
        </p:nvSpPr>
        <p:spPr>
          <a:xfrm>
            <a:off x="877680" y="425196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32"/>
          <p:cNvSpPr/>
          <p:nvPr/>
        </p:nvSpPr>
        <p:spPr>
          <a:xfrm>
            <a:off x="1078920" y="425196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2" name="Text 33"/>
          <p:cNvSpPr/>
          <p:nvPr/>
        </p:nvSpPr>
        <p:spPr>
          <a:xfrm>
            <a:off x="1371600" y="4160520"/>
            <a:ext cx="9783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se combinan con | (OR bit a bit)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3" name="Text 34"/>
          <p:cNvSpPr/>
          <p:nvPr/>
        </p:nvSpPr>
        <p:spPr>
          <a:xfrm>
            <a:off x="777240" y="4544640"/>
            <a:ext cx="10423440" cy="127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ofstream log("eventos.txt", ios::out | ios::app);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  </a:t>
            </a: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agrega al log sin borrar lo anterior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fstream datos("curso.dat", ios::in | ios::out | ios::binary);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  </a:t>
            </a: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puedo leer y escribir, en binario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Shape 35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Text 36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37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8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8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7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Acceso secuencial vs. aleatorio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Text 3"/>
          <p:cNvSpPr/>
          <p:nvPr/>
        </p:nvSpPr>
        <p:spPr>
          <a:xfrm>
            <a:off x="1261800" y="896040"/>
            <a:ext cx="10240560" cy="31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888888"/>
                </a:solidFill>
                <a:latin typeface="Calibri"/>
                <a:ea typeface="Calibri"/>
              </a:rPr>
              <a:t>Y de yapa: cómo generar un archivo binario de prueba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Text 4"/>
          <p:cNvSpPr/>
          <p:nvPr/>
        </p:nvSpPr>
        <p:spPr>
          <a:xfrm>
            <a:off x="548640" y="1417320"/>
            <a:ext cx="10880640" cy="593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350" spc="-1" strike="noStrike">
                <a:solidFill>
                  <a:srgbClr val="1c7293"/>
                </a:solidFill>
                <a:latin typeface="Calibri"/>
                <a:ea typeface="Calibri"/>
              </a:rPr>
              <a:t>Secuencial </a:t>
            </a:r>
            <a:r>
              <a:rPr b="0" lang="es-419" sz="1350" spc="-1" strike="noStrike">
                <a:solidFill>
                  <a:srgbClr val="4a4a4a"/>
                </a:solidFill>
                <a:latin typeface="Calibri"/>
                <a:ea typeface="Calibri"/>
              </a:rPr>
              <a:t>(lo que veníamos haciendo): leer/escribir en orden, desde el principio.  </a:t>
            </a:r>
            <a:r>
              <a:rPr b="1" lang="es-419" sz="1350" spc="-1" strike="noStrike">
                <a:solidFill>
                  <a:srgbClr val="ef6c00"/>
                </a:solidFill>
                <a:latin typeface="Calibri"/>
                <a:ea typeface="Calibri"/>
              </a:rPr>
              <a:t>Aleatorio</a:t>
            </a:r>
            <a:r>
              <a:rPr b="0" lang="es-419" sz="1350" spc="-1" strike="noStrike">
                <a:solidFill>
                  <a:srgbClr val="4a4a4a"/>
                </a:solidFill>
                <a:latin typeface="Calibri"/>
                <a:ea typeface="Calibri"/>
              </a:rPr>
              <a:t>: saltar directo a un registro con seekg/seekp. Como RegistroAlumno ya es de tamaño fijo (lo definimos recién), esto funciona incluso sobre el propio curso.dat.</a:t>
            </a:r>
            <a:endParaRPr b="0" lang="es-419" sz="13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Shape 5"/>
          <p:cNvSpPr/>
          <p:nvPr/>
        </p:nvSpPr>
        <p:spPr>
          <a:xfrm>
            <a:off x="539280" y="2057400"/>
            <a:ext cx="5348520" cy="4114080"/>
          </a:xfrm>
          <a:prstGeom prst="roundRect">
            <a:avLst>
              <a:gd name="adj" fmla="val 1778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Shape 6"/>
          <p:cNvSpPr/>
          <p:nvPr/>
        </p:nvSpPr>
        <p:spPr>
          <a:xfrm>
            <a:off x="548640" y="2057400"/>
            <a:ext cx="534852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Shape 7"/>
          <p:cNvSpPr/>
          <p:nvPr/>
        </p:nvSpPr>
        <p:spPr>
          <a:xfrm>
            <a:off x="548640" y="2212920"/>
            <a:ext cx="534852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Shape 8"/>
          <p:cNvSpPr/>
          <p:nvPr/>
        </p:nvSpPr>
        <p:spPr>
          <a:xfrm>
            <a:off x="676800" y="214884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Shape 9"/>
          <p:cNvSpPr/>
          <p:nvPr/>
        </p:nvSpPr>
        <p:spPr>
          <a:xfrm>
            <a:off x="877680" y="214884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Shape 10"/>
          <p:cNvSpPr/>
          <p:nvPr/>
        </p:nvSpPr>
        <p:spPr>
          <a:xfrm>
            <a:off x="1078920" y="214884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 11"/>
          <p:cNvSpPr/>
          <p:nvPr/>
        </p:nvSpPr>
        <p:spPr>
          <a:xfrm>
            <a:off x="1371600" y="2057400"/>
            <a:ext cx="425124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12"/>
          <p:cNvSpPr/>
          <p:nvPr/>
        </p:nvSpPr>
        <p:spPr>
          <a:xfrm>
            <a:off x="777240" y="2441520"/>
            <a:ext cx="489132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8fbfaf"/>
                </a:solidFill>
                <a:latin typeface="Courier New"/>
                <a:ea typeface="Courier New"/>
              </a:rPr>
              <a:t>// reusa el RegistroAlumno (el mismo que ya usa guardarBinario)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ofstream os("curso_prueba.dat",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  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ios::binary);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RegistroAlumno datos[] = {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{101, "Ana Diaz", 8.5f},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{102, "Luis Roman", 3.0f},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{103, "Marco Sosa", 6.0f},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};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for (auto&amp; r : datos)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os.write((char*)&amp;r, sizeof(r));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Shape 13"/>
          <p:cNvSpPr/>
          <p:nvPr/>
        </p:nvSpPr>
        <p:spPr>
          <a:xfrm>
            <a:off x="6080760" y="2057400"/>
            <a:ext cx="5257080" cy="4114080"/>
          </a:xfrm>
          <a:prstGeom prst="roundRect">
            <a:avLst>
              <a:gd name="adj" fmla="val 1778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Shape 14"/>
          <p:cNvSpPr/>
          <p:nvPr/>
        </p:nvSpPr>
        <p:spPr>
          <a:xfrm>
            <a:off x="6080760" y="2057400"/>
            <a:ext cx="525708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Shape 15"/>
          <p:cNvSpPr/>
          <p:nvPr/>
        </p:nvSpPr>
        <p:spPr>
          <a:xfrm>
            <a:off x="6080760" y="2212920"/>
            <a:ext cx="525708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Shape 16"/>
          <p:cNvSpPr/>
          <p:nvPr/>
        </p:nvSpPr>
        <p:spPr>
          <a:xfrm>
            <a:off x="6208920" y="214884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Shape 17"/>
          <p:cNvSpPr/>
          <p:nvPr/>
        </p:nvSpPr>
        <p:spPr>
          <a:xfrm>
            <a:off x="6409800" y="214884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Shape 18"/>
          <p:cNvSpPr/>
          <p:nvPr/>
        </p:nvSpPr>
        <p:spPr>
          <a:xfrm>
            <a:off x="6611040" y="214884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6903720" y="2057400"/>
            <a:ext cx="41598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 20"/>
          <p:cNvSpPr/>
          <p:nvPr/>
        </p:nvSpPr>
        <p:spPr>
          <a:xfrm>
            <a:off x="6309360" y="2441520"/>
            <a:ext cx="4799880" cy="361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8fbfaf"/>
                </a:solidFill>
                <a:latin typeface="Courier New"/>
                <a:ea typeface="Courier New"/>
              </a:rPr>
              <a:t>// salto directo al registro n,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8fbfaf"/>
                </a:solidFill>
                <a:latin typeface="Courier New"/>
                <a:ea typeface="Courier New"/>
              </a:rPr>
              <a:t>// sin leer los anteriores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RegistroAlumno leerRegistro(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ifstream&amp; is, int n) {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RegistroAlumno r;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is.seekg(n * sizeof(r));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is.read((char*)&amp;r, sizeof(r));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  </a:t>
            </a: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return r;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}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auto r = leerRegistro(is, 2);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8fbfaf"/>
                </a:solidFill>
                <a:latin typeface="Courier New"/>
                <a:ea typeface="Courier New"/>
              </a:rPr>
              <a:t>// -&gt; #103 Marco Sosa, directo,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8fbfaf"/>
                </a:solidFill>
                <a:latin typeface="Courier New"/>
                <a:ea typeface="Courier New"/>
              </a:rPr>
              <a:t>//    sin pasar por el 0 ni el 1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21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22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23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9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8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vector + map + iteradores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3"/>
          <p:cNvSpPr/>
          <p:nvPr/>
        </p:nvSpPr>
        <p:spPr>
          <a:xfrm>
            <a:off x="548640" y="1554480"/>
            <a:ext cx="10880640" cy="4205520"/>
          </a:xfrm>
          <a:prstGeom prst="roundRect">
            <a:avLst>
              <a:gd name="adj" fmla="val 1739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Shape 4"/>
          <p:cNvSpPr/>
          <p:nvPr/>
        </p:nvSpPr>
        <p:spPr>
          <a:xfrm>
            <a:off x="548640" y="1554480"/>
            <a:ext cx="1088064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Shape 5"/>
          <p:cNvSpPr/>
          <p:nvPr/>
        </p:nvSpPr>
        <p:spPr>
          <a:xfrm>
            <a:off x="548640" y="1710000"/>
            <a:ext cx="1088064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Shape 6"/>
          <p:cNvSpPr/>
          <p:nvPr/>
        </p:nvSpPr>
        <p:spPr>
          <a:xfrm>
            <a:off x="676800" y="164592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Shape 7"/>
          <p:cNvSpPr/>
          <p:nvPr/>
        </p:nvSpPr>
        <p:spPr>
          <a:xfrm>
            <a:off x="877680" y="164592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8"/>
          <p:cNvSpPr/>
          <p:nvPr/>
        </p:nvSpPr>
        <p:spPr>
          <a:xfrm>
            <a:off x="1078920" y="164592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Text 9"/>
          <p:cNvSpPr/>
          <p:nvPr/>
        </p:nvSpPr>
        <p:spPr>
          <a:xfrm>
            <a:off x="1371600" y="1554480"/>
            <a:ext cx="9783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main.cpp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1" name="Text 10"/>
          <p:cNvSpPr/>
          <p:nvPr/>
        </p:nvSpPr>
        <p:spPr>
          <a:xfrm>
            <a:off x="777240" y="1938600"/>
            <a:ext cx="10423440" cy="37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vector&lt;Alumno&gt; curso;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curso.emplace_back(101, "Ana Diaz", 8.5f);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curso.emplace_back(102, "Luis Roman", 3.0f);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range-for: por debajo usa begin()/end() (iteradores)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for (const auto&amp; a : curso) 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	</a:t>
            </a: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std::cout &lt;&lt; a &lt;&lt; '\n';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el índice se arma DESPUÉS de cargar todo el vector,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8fbfaf"/>
                </a:solidFill>
                <a:latin typeface="Courier New"/>
                <a:ea typeface="Courier New"/>
              </a:rPr>
              <a:t>// para que estas direcciones de memoria no se invaliden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map&lt;int, const Alumno*&gt; indice;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for (const auto&amp; a : curso) 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	</a:t>
            </a: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indice[a.getLegajo()] = &amp;a;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auto it = indice.find(103);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if (it != indice.end()) 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	</a:t>
            </a:r>
            <a:r>
              <a:rPr b="0" lang="es-419" sz="1600" spc="-1" strike="noStrike">
                <a:solidFill>
                  <a:srgbClr val="f2f2f2"/>
                </a:solidFill>
                <a:latin typeface="Courier New"/>
                <a:ea typeface="Courier New"/>
              </a:rPr>
              <a:t>std::cout &lt;&lt; *(it-&gt;second);</a:t>
            </a:r>
            <a:endParaRPr b="0" lang="es-419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Shape 11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Text 12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13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10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9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Ordenar y buscar con la STL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8" name="Shape 3"/>
          <p:cNvSpPr/>
          <p:nvPr/>
        </p:nvSpPr>
        <p:spPr>
          <a:xfrm>
            <a:off x="548640" y="1554480"/>
            <a:ext cx="10880640" cy="4205520"/>
          </a:xfrm>
          <a:prstGeom prst="roundRect">
            <a:avLst>
              <a:gd name="adj" fmla="val 1739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Shape 4"/>
          <p:cNvSpPr/>
          <p:nvPr/>
        </p:nvSpPr>
        <p:spPr>
          <a:xfrm>
            <a:off x="548640" y="1554480"/>
            <a:ext cx="1088064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Shape 5"/>
          <p:cNvSpPr/>
          <p:nvPr/>
        </p:nvSpPr>
        <p:spPr>
          <a:xfrm>
            <a:off x="548640" y="1710000"/>
            <a:ext cx="1088064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Shape 6"/>
          <p:cNvSpPr/>
          <p:nvPr/>
        </p:nvSpPr>
        <p:spPr>
          <a:xfrm>
            <a:off x="676800" y="164592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Shape 7"/>
          <p:cNvSpPr/>
          <p:nvPr/>
        </p:nvSpPr>
        <p:spPr>
          <a:xfrm>
            <a:off x="877680" y="164592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Shape 8"/>
          <p:cNvSpPr/>
          <p:nvPr/>
        </p:nvSpPr>
        <p:spPr>
          <a:xfrm>
            <a:off x="1078920" y="164592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Text 9"/>
          <p:cNvSpPr/>
          <p:nvPr/>
        </p:nvSpPr>
        <p:spPr>
          <a:xfrm>
            <a:off x="1371600" y="1554480"/>
            <a:ext cx="978336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main.cpp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Text 10"/>
          <p:cNvSpPr/>
          <p:nvPr/>
        </p:nvSpPr>
        <p:spPr>
          <a:xfrm>
            <a:off x="777240" y="1938600"/>
            <a:ext cx="10423440" cy="370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8fbfaf"/>
                </a:solidFill>
                <a:latin typeface="Courier New"/>
                <a:ea typeface="Courier New"/>
              </a:rPr>
              <a:t>// ordenar por nota, de mayor a menor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std::sort(curso.begin(), curso.end(),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[](const Alumno&amp; a, const Alumno&amp; b) {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  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return a.getNota() &gt; b.getNota();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});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8fbfaf"/>
                </a:solidFill>
                <a:latin typeface="Courier New"/>
                <a:ea typeface="Courier New"/>
              </a:rPr>
              <a:t>// encontrar el primer aplazado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auto aplazado = std::find_if(curso.begin(), curso.end(),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[](const Alumno&amp; a) { return a.getNota() &lt; 4.0f; });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if (aplazado != curso.end())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    </a:t>
            </a:r>
            <a:r>
              <a:rPr b="0" lang="es-419" sz="1400" spc="-1" strike="noStrike">
                <a:solidFill>
                  <a:srgbClr val="f2f2f2"/>
                </a:solidFill>
                <a:latin typeface="Courier New"/>
                <a:ea typeface="Courier New"/>
              </a:rPr>
              <a:t>std::cout &lt;&lt; "Aplazado: " &lt;&lt; *aplazado &lt;&lt; '\n';</a:t>
            </a:r>
            <a:endParaRPr b="0" lang="es-419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Shape 11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Text 12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 13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11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Shape 0"/>
          <p:cNvSpPr/>
          <p:nvPr/>
        </p:nvSpPr>
        <p:spPr>
          <a:xfrm>
            <a:off x="502920" y="384120"/>
            <a:ext cx="566280" cy="56628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02920" y="384120"/>
            <a:ext cx="566280" cy="56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ffffff"/>
                </a:solidFill>
                <a:latin typeface="Arial"/>
                <a:ea typeface="Arial"/>
              </a:rPr>
              <a:t>10</a:t>
            </a:r>
            <a:endParaRPr b="0" lang="es-419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Text 2"/>
          <p:cNvSpPr/>
          <p:nvPr/>
        </p:nvSpPr>
        <p:spPr>
          <a:xfrm>
            <a:off x="1234440" y="320040"/>
            <a:ext cx="10240560" cy="69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4a4a4a"/>
                </a:solidFill>
                <a:latin typeface="Arial"/>
                <a:ea typeface="Arial"/>
              </a:rPr>
              <a:t>Corrida real (compilado y probado)</a:t>
            </a:r>
            <a:endParaRPr b="0" lang="es-419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Shape 3"/>
          <p:cNvSpPr/>
          <p:nvPr/>
        </p:nvSpPr>
        <p:spPr>
          <a:xfrm>
            <a:off x="548640" y="1508760"/>
            <a:ext cx="5942880" cy="4296960"/>
          </a:xfrm>
          <a:prstGeom prst="roundRect">
            <a:avLst>
              <a:gd name="adj" fmla="val 1702"/>
            </a:avLst>
          </a:prstGeom>
          <a:solidFill>
            <a:srgbClr val="2b2b2b"/>
          </a:solidFill>
          <a:ln w="6350">
            <a:solidFill>
              <a:srgbClr val="000000"/>
            </a:solidFill>
            <a:round/>
          </a:ln>
          <a:effectLst>
            <a:outerShdw algn="bl" blurRad="76320" dir="5400000" dist="38160" kx="0" ky="0" rotWithShape="0" sx="100000" sy="10000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548640" y="1508760"/>
            <a:ext cx="5942880" cy="310320"/>
          </a:xfrm>
          <a:prstGeom prst="roundRect">
            <a:avLst>
              <a:gd name="adj" fmla="val 23529"/>
            </a:avLst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4" name="Shape 5"/>
          <p:cNvSpPr/>
          <p:nvPr/>
        </p:nvSpPr>
        <p:spPr>
          <a:xfrm>
            <a:off x="548640" y="1664280"/>
            <a:ext cx="5942880" cy="154800"/>
          </a:xfrm>
          <a:prstGeom prst="rect">
            <a:avLst/>
          </a:prstGeom>
          <a:solidFill>
            <a:srgbClr val="3a3a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Shape 6"/>
          <p:cNvSpPr/>
          <p:nvPr/>
        </p:nvSpPr>
        <p:spPr>
          <a:xfrm>
            <a:off x="676800" y="1600200"/>
            <a:ext cx="127440" cy="127440"/>
          </a:xfrm>
          <a:prstGeom prst="ellipse">
            <a:avLst/>
          </a:prstGeom>
          <a:solidFill>
            <a:srgbClr val="ff5f5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6" name="Shape 7"/>
          <p:cNvSpPr/>
          <p:nvPr/>
        </p:nvSpPr>
        <p:spPr>
          <a:xfrm>
            <a:off x="877680" y="1600200"/>
            <a:ext cx="127440" cy="127440"/>
          </a:xfrm>
          <a:prstGeom prst="ellipse">
            <a:avLst/>
          </a:prstGeom>
          <a:solidFill>
            <a:srgbClr val="ffbd2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8"/>
          <p:cNvSpPr/>
          <p:nvPr/>
        </p:nvSpPr>
        <p:spPr>
          <a:xfrm>
            <a:off x="1078920" y="1600200"/>
            <a:ext cx="127440" cy="127440"/>
          </a:xfrm>
          <a:prstGeom prst="ellipse">
            <a:avLst/>
          </a:prstGeom>
          <a:solidFill>
            <a:srgbClr val="27c93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Text 9"/>
          <p:cNvSpPr/>
          <p:nvPr/>
        </p:nvSpPr>
        <p:spPr>
          <a:xfrm>
            <a:off x="1371600" y="1508760"/>
            <a:ext cx="4845600" cy="31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100" spc="-1" strike="noStrike">
                <a:solidFill>
                  <a:srgbClr val="bbbbbb"/>
                </a:solidFill>
                <a:latin typeface="Courier New"/>
                <a:ea typeface="Courier New"/>
              </a:rPr>
              <a:t>salida por consola</a:t>
            </a:r>
            <a:endParaRPr b="0" lang="es-419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 10"/>
          <p:cNvSpPr/>
          <p:nvPr/>
        </p:nvSpPr>
        <p:spPr>
          <a:xfrm>
            <a:off x="777240" y="1892880"/>
            <a:ext cx="5485680" cy="379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=== Ranking por nota ===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#104 Nadia Ibarra - nota: 9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#101 Ana Diaz - nota: 8.5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#103 Marco Sosa - nota: 6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#102 Luis Roman - nota: 3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=== Primer aplazado ===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#102 Luis Roman - nota: 3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Promedio general: 6.625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=== Releido desde binario ===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#104 Nadia Ibarra - nota: 9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#101 Ana Diaz - nota: 8.5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#103 Marco Sosa - nota: 6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10000"/>
              </a:lnSpc>
              <a:tabLst>
                <a:tab algn="l" pos="0"/>
              </a:tabLst>
            </a:pPr>
            <a:r>
              <a:rPr b="0" lang="es-419" sz="1250" spc="-1" strike="noStrike">
                <a:solidFill>
                  <a:srgbClr val="f2f2f2"/>
                </a:solidFill>
                <a:latin typeface="Courier New"/>
                <a:ea typeface="Courier New"/>
              </a:rPr>
              <a:t>#102 Luis Roman - nota: 3</a:t>
            </a:r>
            <a:endParaRPr b="0" lang="es-419" sz="12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Shape 11"/>
          <p:cNvSpPr/>
          <p:nvPr/>
        </p:nvSpPr>
        <p:spPr>
          <a:xfrm>
            <a:off x="6675120" y="1508760"/>
            <a:ext cx="4937040" cy="4296960"/>
          </a:xfrm>
          <a:prstGeom prst="roundRect">
            <a:avLst>
              <a:gd name="adj" fmla="val 1702"/>
            </a:avLst>
          </a:prstGeom>
          <a:solidFill>
            <a:srgbClr val="eaf6f5"/>
          </a:solidFill>
          <a:ln w="12700">
            <a:solidFill>
              <a:srgbClr val="4db6a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Text 13"/>
          <p:cNvSpPr/>
          <p:nvPr/>
        </p:nvSpPr>
        <p:spPr>
          <a:xfrm>
            <a:off x="6949440" y="2240280"/>
            <a:ext cx="438840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419" sz="1450" spc="-1" strike="noStrike">
                <a:solidFill>
                  <a:srgbClr val="4a4a4a"/>
                </a:solidFill>
                <a:latin typeface="Calibri"/>
                <a:ea typeface="Calibri"/>
              </a:rPr>
              <a:t>curso.txt  →  70 bytes  (legible)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s-419" sz="1450" spc="-1" strike="noStrike">
                <a:solidFill>
                  <a:srgbClr val="4a4a4a"/>
                </a:solidFill>
                <a:latin typeface="Calibri"/>
                <a:ea typeface="Calibri"/>
              </a:rPr>
              <a:t>curso.dat  →  160 bytes  (4 × 40 bytes fijos)</a:t>
            </a: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s-419" sz="145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4a4a4a"/>
                </a:solidFill>
                <a:latin typeface="Calibri"/>
                <a:ea typeface="Calibri"/>
              </a:rPr>
              <a:t>Con struct de tamaño fijo el binario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4a4a4a"/>
                </a:solidFill>
                <a:latin typeface="Calibri"/>
                <a:ea typeface="Calibri"/>
              </a:rPr>
              <a:t>es más grande acá (padding + relleno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4a4a4a"/>
                </a:solidFill>
                <a:latin typeface="Calibri"/>
                <a:ea typeface="Calibri"/>
              </a:rPr>
              <a:t>del char[30]), pero a cambio el código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algn="l" pos="0"/>
              </a:tabLst>
            </a:pPr>
            <a:r>
              <a:rPr b="0" i="1" lang="es-419" sz="1300" spc="-1" strike="noStrike">
                <a:solidFill>
                  <a:srgbClr val="4a4a4a"/>
                </a:solidFill>
                <a:latin typeface="Calibri"/>
                <a:ea typeface="Calibri"/>
              </a:rPr>
              <a:t>es muchísimo más simple.</a:t>
            </a:r>
            <a:endParaRPr b="0" lang="es-419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Shape 14"/>
          <p:cNvSpPr/>
          <p:nvPr/>
        </p:nvSpPr>
        <p:spPr>
          <a:xfrm>
            <a:off x="0" y="6528960"/>
            <a:ext cx="12191040" cy="45000"/>
          </a:xfrm>
          <a:prstGeom prst="rect">
            <a:avLst/>
          </a:prstGeom>
          <a:solidFill>
            <a:srgbClr val="4db6a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Text 15"/>
          <p:cNvSpPr/>
          <p:nvPr/>
        </p:nvSpPr>
        <p:spPr>
          <a:xfrm>
            <a:off x="457200" y="6592680"/>
            <a:ext cx="731448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Práctica  |  Persistencia y STL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Text 16"/>
          <p:cNvSpPr/>
          <p:nvPr/>
        </p:nvSpPr>
        <p:spPr>
          <a:xfrm>
            <a:off x="11094480" y="6592680"/>
            <a:ext cx="639360" cy="23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950" spc="-1" strike="noStrike">
                <a:solidFill>
                  <a:srgbClr val="999999"/>
                </a:solidFill>
                <a:latin typeface="Calibri"/>
                <a:ea typeface="Calibri"/>
              </a:rPr>
              <a:t>12</a:t>
            </a:r>
            <a:endParaRPr b="0" lang="es-419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Text 0"/>
          <p:cNvSpPr/>
          <p:nvPr/>
        </p:nvSpPr>
        <p:spPr>
          <a:xfrm>
            <a:off x="640080" y="502920"/>
            <a:ext cx="10880640" cy="63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3000" spc="-1" strike="noStrike">
                <a:solidFill>
                  <a:srgbClr val="ffffff"/>
                </a:solidFill>
                <a:latin typeface="Arial"/>
                <a:ea typeface="Arial"/>
              </a:rPr>
              <a:t>Ahora les toca a ustedes</a:t>
            </a:r>
            <a:endParaRPr b="0" lang="es-419" sz="3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6" name="Shape 1"/>
          <p:cNvSpPr/>
          <p:nvPr/>
        </p:nvSpPr>
        <p:spPr>
          <a:xfrm>
            <a:off x="640080" y="1371600"/>
            <a:ext cx="10880640" cy="712440"/>
          </a:xfrm>
          <a:prstGeom prst="roundRect">
            <a:avLst>
              <a:gd name="adj" fmla="val 10256"/>
            </a:avLst>
          </a:prstGeom>
          <a:solidFill>
            <a:srgbClr val="2267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Shape 2"/>
          <p:cNvSpPr/>
          <p:nvPr/>
        </p:nvSpPr>
        <p:spPr>
          <a:xfrm>
            <a:off x="914400" y="1581840"/>
            <a:ext cx="291960" cy="29196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 3"/>
          <p:cNvSpPr/>
          <p:nvPr/>
        </p:nvSpPr>
        <p:spPr>
          <a:xfrm>
            <a:off x="914400" y="158184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Arial"/>
                <a:ea typeface="Arial"/>
              </a:rPr>
              <a:t>1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9" name="Text 4"/>
          <p:cNvSpPr/>
          <p:nvPr/>
        </p:nvSpPr>
        <p:spPr>
          <a:xfrm>
            <a:off x="1371600" y="1371600"/>
            <a:ext cx="9874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Agreguen el campo "carrera" a Alumno y ajusten guardarBinario/cargarBinario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Shape 5"/>
          <p:cNvSpPr/>
          <p:nvPr/>
        </p:nvSpPr>
        <p:spPr>
          <a:xfrm>
            <a:off x="640080" y="2203560"/>
            <a:ext cx="10880640" cy="712440"/>
          </a:xfrm>
          <a:prstGeom prst="roundRect">
            <a:avLst>
              <a:gd name="adj" fmla="val 10256"/>
            </a:avLst>
          </a:prstGeom>
          <a:solidFill>
            <a:srgbClr val="2267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1" name="Shape 6"/>
          <p:cNvSpPr/>
          <p:nvPr/>
        </p:nvSpPr>
        <p:spPr>
          <a:xfrm>
            <a:off x="914400" y="2414160"/>
            <a:ext cx="291960" cy="29196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Text 7"/>
          <p:cNvSpPr/>
          <p:nvPr/>
        </p:nvSpPr>
        <p:spPr>
          <a:xfrm>
            <a:off x="914400" y="241416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Arial"/>
                <a:ea typeface="Arial"/>
              </a:rPr>
              <a:t>2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 8"/>
          <p:cNvSpPr/>
          <p:nvPr/>
        </p:nvSpPr>
        <p:spPr>
          <a:xfrm>
            <a:off x="1371600" y="2203560"/>
            <a:ext cx="9874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Cambien el sort para que ordene por nombre en vez de por nota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Shape 9"/>
          <p:cNvSpPr/>
          <p:nvPr/>
        </p:nvSpPr>
        <p:spPr>
          <a:xfrm>
            <a:off x="640080" y="3035880"/>
            <a:ext cx="10880640" cy="712440"/>
          </a:xfrm>
          <a:prstGeom prst="roundRect">
            <a:avLst>
              <a:gd name="adj" fmla="val 10256"/>
            </a:avLst>
          </a:prstGeom>
          <a:solidFill>
            <a:srgbClr val="2267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Shape 10"/>
          <p:cNvSpPr/>
          <p:nvPr/>
        </p:nvSpPr>
        <p:spPr>
          <a:xfrm>
            <a:off x="914400" y="3246120"/>
            <a:ext cx="291960" cy="29196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Text 11"/>
          <p:cNvSpPr/>
          <p:nvPr/>
        </p:nvSpPr>
        <p:spPr>
          <a:xfrm>
            <a:off x="914400" y="324612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Arial"/>
                <a:ea typeface="Arial"/>
              </a:rPr>
              <a:t>3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Text 12"/>
          <p:cNvSpPr/>
          <p:nvPr/>
        </p:nvSpPr>
        <p:spPr>
          <a:xfrm>
            <a:off x="1371600" y="3035880"/>
            <a:ext cx="9874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Abran curso.dat con un editor de texto: ¿qué se ve? ¿por qué?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13"/>
          <p:cNvSpPr/>
          <p:nvPr/>
        </p:nvSpPr>
        <p:spPr>
          <a:xfrm>
            <a:off x="640080" y="3867840"/>
            <a:ext cx="10880640" cy="712440"/>
          </a:xfrm>
          <a:prstGeom prst="roundRect">
            <a:avLst>
              <a:gd name="adj" fmla="val 10256"/>
            </a:avLst>
          </a:prstGeom>
          <a:solidFill>
            <a:srgbClr val="2267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Shape 14"/>
          <p:cNvSpPr/>
          <p:nvPr/>
        </p:nvSpPr>
        <p:spPr>
          <a:xfrm>
            <a:off x="914400" y="4078080"/>
            <a:ext cx="291960" cy="29196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 15"/>
          <p:cNvSpPr/>
          <p:nvPr/>
        </p:nvSpPr>
        <p:spPr>
          <a:xfrm>
            <a:off x="914400" y="407808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Arial"/>
                <a:ea typeface="Arial"/>
              </a:rPr>
              <a:t>4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Text 16"/>
          <p:cNvSpPr/>
          <p:nvPr/>
        </p:nvSpPr>
        <p:spPr>
          <a:xfrm>
            <a:off x="1371600" y="3867840"/>
            <a:ext cx="9874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Agreguen un find_if que busque por legajo en vez de por nota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Shape 17"/>
          <p:cNvSpPr/>
          <p:nvPr/>
        </p:nvSpPr>
        <p:spPr>
          <a:xfrm>
            <a:off x="640080" y="4700160"/>
            <a:ext cx="10880640" cy="712440"/>
          </a:xfrm>
          <a:prstGeom prst="roundRect">
            <a:avLst>
              <a:gd name="adj" fmla="val 10256"/>
            </a:avLst>
          </a:prstGeom>
          <a:solidFill>
            <a:srgbClr val="22677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Shape 18"/>
          <p:cNvSpPr/>
          <p:nvPr/>
        </p:nvSpPr>
        <p:spPr>
          <a:xfrm>
            <a:off x="914400" y="4910400"/>
            <a:ext cx="291960" cy="291960"/>
          </a:xfrm>
          <a:prstGeom prst="ellipse">
            <a:avLst/>
          </a:prstGeom>
          <a:solidFill>
            <a:srgbClr val="ef6c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 19"/>
          <p:cNvSpPr/>
          <p:nvPr/>
        </p:nvSpPr>
        <p:spPr>
          <a:xfrm>
            <a:off x="914400" y="4910400"/>
            <a:ext cx="291960" cy="29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1400" spc="-1" strike="noStrike">
                <a:solidFill>
                  <a:srgbClr val="ffffff"/>
                </a:solidFill>
                <a:latin typeface="Arial"/>
                <a:ea typeface="Arial"/>
              </a:rPr>
              <a:t>5</a:t>
            </a:r>
            <a:endParaRPr b="0" lang="es-419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 20"/>
          <p:cNvSpPr/>
          <p:nvPr/>
        </p:nvSpPr>
        <p:spPr>
          <a:xfrm>
            <a:off x="1371600" y="4700160"/>
            <a:ext cx="9874800" cy="71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s-419" sz="1500" spc="-1" strike="noStrike">
                <a:solidFill>
                  <a:srgbClr val="ffffff"/>
                </a:solidFill>
                <a:latin typeface="Calibri"/>
                <a:ea typeface="Calibri"/>
              </a:rPr>
              <a:t>Lean el último registro con seekg, sin loop</a:t>
            </a:r>
            <a:endParaRPr b="0" lang="es-419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6" name="Shape 21"/>
          <p:cNvSpPr/>
          <p:nvPr/>
        </p:nvSpPr>
        <p:spPr>
          <a:xfrm>
            <a:off x="914400" y="5943600"/>
            <a:ext cx="10362240" cy="26640"/>
          </a:xfrm>
          <a:prstGeom prst="rect">
            <a:avLst/>
          </a:prstGeom>
          <a:solidFill>
            <a:srgbClr val="b3a77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17640" bIns="-17640" anchor="t">
            <a:noAutofit/>
          </a:bodyPr>
          <a:p>
            <a:pPr>
              <a:lnSpc>
                <a:spcPct val="100000"/>
              </a:lnSpc>
            </a:pPr>
            <a:endParaRPr b="0" lang="es-419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2"/>
          <p:cNvSpPr/>
          <p:nvPr/>
        </p:nvSpPr>
        <p:spPr>
          <a:xfrm>
            <a:off x="457200" y="6099120"/>
            <a:ext cx="11276640" cy="50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s-419" sz="2200" spc="-1" strike="noStrike">
                <a:solidFill>
                  <a:srgbClr val="ef6c00"/>
                </a:solidFill>
                <a:latin typeface="Arial"/>
                <a:ea typeface="Arial"/>
              </a:rPr>
              <a:t>¡A programar!</a:t>
            </a:r>
            <a:endParaRPr b="0" lang="es-419" sz="2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</TotalTime>
  <Application>LibreOffice/24.2.5.2$Windows_X86_64 LibreOffice_project/bffef4ea93e59bebbeaf7f431bb02b1a39ee8a59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2026-09-04T22:18:03Z</dcterms:created>
  <dc:creator>PptxGenJS</dc:creator>
  <dc:description/>
  <dc:language>es-419</dc:language>
  <cp:lastModifiedBy/>
  <dcterms:modified xsi:type="dcterms:W3CDTF">2026-09-06T22:20:32Z</dcterms:modified>
  <cp:revision>4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13</vt:i4>
  </property>
  <property fmtid="{D5CDD505-2E9C-101B-9397-08002B2CF9AE}" pid="3" name="PresentationFormat">
    <vt:lpwstr>On-screen Show (16:9)</vt:lpwstr>
  </property>
  <property fmtid="{D5CDD505-2E9C-101B-9397-08002B2CF9AE}" pid="4" name="Slides">
    <vt:i4>13</vt:i4>
  </property>
</Properties>
</file>